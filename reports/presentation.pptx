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Healthcare Provider 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(Medicare Fraud Detection Capstone)</a:t>
            </a:r>
          </a:p>
          <a:p/>
          <a:p>
            <a:r>
              <a:t>Team: Mohamed Osama • Malak Khaled • Bahy Hany • Mohamed Wael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1 — The Problem &amp; Our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US healthcare fraud exceeds $68B/year</a:t>
            </a:r>
          </a:p>
          <a:p>
            <a:pPr/>
            <a:r>
              <a:rPr sz="1800"/>
              <a:t>Legacy auditing misses hidden fraud patterns</a:t>
            </a:r>
          </a:p>
          <a:p>
            <a:pPr/>
            <a:r>
              <a:rPr sz="1800"/>
              <a:t>Fraudulent providers ≈ 9% → ML bias</a:t>
            </a:r>
          </a:p>
          <a:p>
            <a:pPr/>
          </a:p>
          <a:p>
            <a:pPr/>
            <a:r>
              <a:rPr sz="1800"/>
              <a:t>Goal</a:t>
            </a:r>
          </a:p>
          <a:p>
            <a:pPr lvl="1"/>
            <a:r>
              <a:rPr sz="1600"/>
              <a:t>Detect high-risk providers (not individual claims)</a:t>
            </a:r>
          </a:p>
          <a:p>
            <a:pPr lvl="1"/>
            <a:r>
              <a:rPr sz="1600"/>
              <a:t>Handle severe class imbalance</a:t>
            </a:r>
          </a:p>
          <a:p>
            <a:pPr lvl="1"/>
            <a:r>
              <a:rPr sz="1600"/>
              <a:t>Reduce false investigations &amp; financial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Slide 2 — Data Architecture Overview (Phase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Inputs</a:t>
            </a:r>
          </a:p>
          <a:p>
            <a:pPr lvl="1"/>
            <a:r>
              <a:rPr sz="1600"/>
              <a:t>Beneficiary</a:t>
            </a:r>
          </a:p>
          <a:p>
            <a:pPr lvl="1"/>
            <a:r>
              <a:rPr sz="1600"/>
              <a:t>Inpatient</a:t>
            </a:r>
          </a:p>
          <a:p>
            <a:pPr lvl="1"/>
            <a:r>
              <a:rPr sz="1600"/>
              <a:t>Outpatient</a:t>
            </a:r>
          </a:p>
          <a:p>
            <a:pPr lvl="1"/>
            <a:r>
              <a:rPr sz="1600"/>
              <a:t>Provider labels</a:t>
            </a:r>
          </a:p>
          <a:p>
            <a:pPr/>
          </a:p>
          <a:p>
            <a:pPr/>
            <a:r>
              <a:rPr sz="1800"/>
              <a:t>Join Level</a:t>
            </a:r>
          </a:p>
          <a:p>
            <a:pPr lvl="1"/>
            <a:r>
              <a:rPr sz="1600"/>
              <a:t>BeneID → Patient Events</a:t>
            </a:r>
          </a:p>
          <a:p>
            <a:pPr lvl="1"/>
            <a:r>
              <a:rPr sz="1600"/>
              <a:t>Provider → Target Entity (Fraud label)</a:t>
            </a:r>
          </a:p>
          <a:p>
            <a:pPr/>
          </a:p>
          <a:p>
            <a:pPr/>
            <a:r>
              <a:rPr sz="1800"/>
              <a:t>Challenge</a:t>
            </a:r>
          </a:p>
          <a:p>
            <a:pPr lvl="1"/>
            <a:r>
              <a:rPr sz="1600"/>
              <a:t>Claims are transactional</a:t>
            </a:r>
          </a:p>
          <a:p>
            <a:pPr lvl="1"/>
            <a:r>
              <a:rPr sz="1600"/>
              <a:t>Fraud is behavioral at provider level</a:t>
            </a:r>
          </a:p>
          <a:p>
            <a:pPr/>
          </a:p>
          <a:p>
            <a:pPr/>
            <a:r>
              <a:rPr sz="1800"/>
              <a:t>➡️ Build provider-level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3 — Data Cleaning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Problems Detected</a:t>
            </a:r>
          </a:p>
          <a:p>
            <a:pPr lvl="1"/>
            <a:r>
              <a:rPr sz="1600"/>
              <a:t>Missing physician codes</a:t>
            </a:r>
          </a:p>
          <a:p>
            <a:pPr lvl="1"/>
            <a:r>
              <a:rPr sz="1600"/>
              <a:t>Nonsensical claim durations</a:t>
            </a:r>
          </a:p>
          <a:p>
            <a:pPr lvl="1"/>
            <a:r>
              <a:rPr sz="1600"/>
              <a:t>Zero-information columns</a:t>
            </a:r>
          </a:p>
          <a:p>
            <a:pPr/>
          </a:p>
          <a:p>
            <a:pPr/>
            <a:r>
              <a:rPr sz="1800"/>
              <a:t>Actions</a:t>
            </a:r>
          </a:p>
          <a:p>
            <a:pPr lvl="1"/>
            <a:r>
              <a:rPr sz="1600"/>
              <a:t>Encode missing physicians as "Unknown"</a:t>
            </a:r>
          </a:p>
          <a:p>
            <a:pPr lvl="1"/>
            <a:r>
              <a:rPr sz="1600"/>
              <a:t>Drop invalid-duration claims</a:t>
            </a:r>
          </a:p>
          <a:p>
            <a:pPr lvl="1"/>
            <a:r>
              <a:rPr sz="1600"/>
              <a:t>Remove redundant fields</a:t>
            </a:r>
          </a:p>
          <a:p>
            <a:pPr/>
          </a:p>
          <a:p>
            <a:pPr/>
            <a:r>
              <a:rPr sz="1800"/>
              <a:t>Outcome</a:t>
            </a:r>
          </a:p>
          <a:p>
            <a:pPr lvl="1"/>
            <a:r>
              <a:rPr sz="1600"/>
              <a:t>Fraud distribution confirmed at ~9–10%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4 —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We convert millions of claims → provider behavioral vectors</a:t>
            </a:r>
          </a:p>
          <a:p>
            <a:pPr/>
          </a:p>
          <a:p>
            <a:pPr/>
            <a:r>
              <a:rPr sz="1800"/>
              <a:t>Feature Groups</a:t>
            </a:r>
          </a:p>
          <a:p>
            <a:pPr lvl="1"/>
            <a:r>
              <a:rPr sz="1600"/>
              <a:t>Financial: reimbursements, avg deductible, mean claim cost</a:t>
            </a:r>
          </a:p>
          <a:p>
            <a:pPr lvl="1"/>
            <a:r>
              <a:rPr sz="1600"/>
              <a:t>Operational: volume, inpatient/outpatient balance</a:t>
            </a:r>
          </a:p>
          <a:p>
            <a:pPr lvl="1"/>
            <a:r>
              <a:rPr sz="1600"/>
              <a:t>Service Diversity: unique diagnoses &amp; procedures</a:t>
            </a:r>
          </a:p>
          <a:p>
            <a:pPr lvl="1"/>
            <a:r>
              <a:rPr sz="1600"/>
              <a:t>Patient mix: chronic ratios, unique patient count</a:t>
            </a:r>
          </a:p>
          <a:p>
            <a:pPr/>
          </a:p>
          <a:p>
            <a:pPr/>
            <a:r>
              <a:rPr sz="1800"/>
              <a:t>Final Dataset: 5410 providers × ~134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5 — Exploratory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Detected patterns:</a:t>
            </a:r>
          </a:p>
          <a:p>
            <a:pPr lvl="1"/>
            <a:r>
              <a:rPr sz="1600"/>
              <a:t>Fraud providers show higher revenue throughput</a:t>
            </a:r>
          </a:p>
          <a:p>
            <a:pPr lvl="1"/>
            <a:r>
              <a:rPr sz="1600"/>
              <a:t>Greater diagnosis/procedure diversity</a:t>
            </a:r>
          </a:p>
          <a:p>
            <a:pPr lvl="1"/>
            <a:r>
              <a:rPr sz="1600"/>
              <a:t>Geographic hotspots (certain states)</a:t>
            </a:r>
          </a:p>
          <a:p>
            <a:pPr lvl="1"/>
            <a:r>
              <a:rPr sz="1600"/>
              <a:t>Sustained high billing across time → not random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Slide 6 — Handling Imbalance (Phase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Issue: Fraud = minority → models default to "No Fraud"</a:t>
            </a:r>
          </a:p>
          <a:p>
            <a:pPr/>
          </a:p>
          <a:p>
            <a:pPr/>
            <a:r>
              <a:rPr sz="1800"/>
              <a:t>Methods tested:</a:t>
            </a:r>
          </a:p>
          <a:p>
            <a:pPr lvl="1"/>
            <a:r>
              <a:rPr sz="1600"/>
              <a:t>Class Weighting</a:t>
            </a:r>
          </a:p>
          <a:p>
            <a:pPr lvl="1"/>
            <a:r>
              <a:rPr sz="1600"/>
              <a:t>SMOTE</a:t>
            </a:r>
          </a:p>
          <a:p>
            <a:pPr lvl="1"/>
            <a:r>
              <a:rPr sz="1600"/>
              <a:t>SMOTE + Tomek Links</a:t>
            </a:r>
          </a:p>
          <a:p>
            <a:pPr/>
          </a:p>
          <a:p>
            <a:pPr/>
            <a:r>
              <a:rPr sz="1800"/>
              <a:t>Purpose:</a:t>
            </a:r>
          </a:p>
          <a:p>
            <a:pPr lvl="1"/>
            <a:r>
              <a:rPr sz="1600"/>
              <a:t>Improve detection power</a:t>
            </a:r>
          </a:p>
          <a:p>
            <a:pPr lvl="1"/>
            <a:r>
              <a:rPr sz="1600"/>
              <a:t>Preserve real distributions after oversampling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Slide 7 — Modeling Strategy (Phase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Models:</a:t>
            </a:r>
          </a:p>
          <a:p>
            <a:pPr lvl="1"/>
            <a:r>
              <a:rPr sz="1600"/>
              <a:t>Logistic Regression → interpretable baseline</a:t>
            </a:r>
          </a:p>
          <a:p>
            <a:pPr lvl="1"/>
            <a:r>
              <a:rPr sz="1600"/>
              <a:t>Decision Tree → simple benchmark</a:t>
            </a:r>
          </a:p>
          <a:p>
            <a:pPr lvl="1"/>
            <a:r>
              <a:rPr sz="1600"/>
              <a:t>Random Forest → robust ensemble</a:t>
            </a:r>
          </a:p>
          <a:p>
            <a:pPr lvl="1"/>
            <a:r>
              <a:rPr sz="1600"/>
              <a:t>XGBoost → non-linear excellence + imbalance tolerance</a:t>
            </a:r>
          </a:p>
          <a:p>
            <a:pPr/>
          </a:p>
          <a:p>
            <a:pPr/>
            <a:r>
              <a:rPr sz="1800"/>
              <a:t>Tuning</a:t>
            </a:r>
          </a:p>
          <a:p>
            <a:pPr lvl="1"/>
            <a:r>
              <a:rPr sz="1600"/>
              <a:t>GridSearchCV (5-fold)</a:t>
            </a:r>
          </a:p>
          <a:p>
            <a:pPr lvl="1"/>
            <a:r>
              <a:rPr sz="1600"/>
              <a:t>Optimized for F1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Slide 8 — Model Selection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600"/>
              <a:t>Model Comparison (Validation Set):</a:t>
            </a:r>
          </a:p>
          <a:p>
            <a:pPr/>
          </a:p>
          <a:p>
            <a:pPr/>
            <a:r>
              <a:rPr sz="1600"/>
              <a:t>Logistic Regression: Precision 0.43, Recall 0.80, F1 0.56, PR-AUC 0.63</a:t>
            </a:r>
          </a:p>
          <a:p>
            <a:pPr/>
            <a:r>
              <a:rPr sz="1600"/>
              <a:t>Random Forest: Precision 0.48, Recall 0.77, F1 0.59, PR-AUC 0.59</a:t>
            </a:r>
          </a:p>
          <a:p>
            <a:pPr/>
            <a:r>
              <a:rPr sz="1600"/>
              <a:t>Decision Tree: Precision 0.43, Recall 0.68, F1 0.53, PR-AUC 0.37</a:t>
            </a:r>
          </a:p>
          <a:p>
            <a:pPr/>
            <a:r>
              <a:rPr sz="1600"/>
              <a:t>XGBoost: Precision 0.59, Recall 0.68, F1 0.63, PR-AUC 0.65</a:t>
            </a:r>
          </a:p>
          <a:p>
            <a:pPr/>
          </a:p>
          <a:p>
            <a:pPr/>
            <a:r>
              <a:rPr sz="1600"/>
              <a:t>XGBoost = best balance: recall + precision + ROC-AUC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Slide 9 — Final Test Evaluation (Phase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600"/>
              <a:t>Test Results (20% unseen)</a:t>
            </a:r>
          </a:p>
          <a:p>
            <a:pPr lvl="1"/>
            <a:r>
              <a:rPr sz="1400"/>
              <a:t>Accuracy: 93.63%</a:t>
            </a:r>
          </a:p>
          <a:p>
            <a:pPr lvl="1"/>
            <a:r>
              <a:rPr sz="1400"/>
              <a:t>Precision: 63.79%</a:t>
            </a:r>
          </a:p>
          <a:p>
            <a:pPr lvl="1"/>
            <a:r>
              <a:rPr sz="1400"/>
              <a:t>Recall: 73.27%</a:t>
            </a:r>
          </a:p>
          <a:p>
            <a:pPr lvl="1"/>
            <a:r>
              <a:rPr sz="1400"/>
              <a:t>F1: 68.20%</a:t>
            </a:r>
          </a:p>
          <a:p>
            <a:pPr lvl="1"/>
            <a:r>
              <a:rPr sz="1400"/>
              <a:t>ROC-AUC: 96.79%</a:t>
            </a:r>
          </a:p>
          <a:p>
            <a:pPr lvl="1"/>
            <a:r>
              <a:rPr sz="1400"/>
              <a:t>PR-AUC: 79.89%</a:t>
            </a:r>
          </a:p>
          <a:p>
            <a:pPr/>
          </a:p>
          <a:p>
            <a:pPr/>
            <a:r>
              <a:rPr sz="1600"/>
              <a:t>Confusion Matrix</a:t>
            </a:r>
          </a:p>
          <a:p>
            <a:pPr lvl="1"/>
            <a:r>
              <a:rPr sz="1400"/>
              <a:t>TP: 74 — caught fraud</a:t>
            </a:r>
          </a:p>
          <a:p>
            <a:pPr lvl="1"/>
            <a:r>
              <a:rPr sz="1400"/>
              <a:t>FN: 27 — missed fraud</a:t>
            </a:r>
          </a:p>
          <a:p>
            <a:pPr lvl="1"/>
            <a:r>
              <a:rPr sz="1400"/>
              <a:t>FP: 42 — unnecessary audits</a:t>
            </a:r>
          </a:p>
          <a:p>
            <a:pPr lvl="1"/>
            <a:r>
              <a:rPr sz="1400"/>
              <a:t>TN: 940 — legitimate providers</a:t>
            </a:r>
          </a:p>
          <a:p>
            <a:pPr/>
          </a:p>
          <a:p>
            <a:pPr/>
            <a:r>
              <a:rPr sz="1600"/>
              <a:t>➡️ High recall + very high ROC-AUC = excellent fraud ranking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10 —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Assumptions:</a:t>
            </a:r>
          </a:p>
          <a:p>
            <a:pPr lvl="1"/>
            <a:r>
              <a:rPr sz="1600"/>
              <a:t>False Positive → ~$1,000 audit cost</a:t>
            </a:r>
          </a:p>
          <a:p>
            <a:pPr lvl="1"/>
            <a:r>
              <a:rPr sz="1600"/>
              <a:t>False Negative → ~$50,000 undetected fraud</a:t>
            </a:r>
          </a:p>
          <a:p>
            <a:pPr/>
          </a:p>
          <a:p>
            <a:pPr/>
            <a:r>
              <a:rPr sz="1800"/>
              <a:t>Model advantages:</a:t>
            </a:r>
          </a:p>
          <a:p>
            <a:pPr lvl="1"/>
            <a:r>
              <a:rPr sz="1600"/>
              <a:t>Prevents silent financial leakage</a:t>
            </a:r>
          </a:p>
          <a:p>
            <a:pPr lvl="1"/>
            <a:r>
              <a:rPr sz="1600"/>
              <a:t>Strong ROC-AUC → optimal investigation prioritization</a:t>
            </a:r>
          </a:p>
          <a:p>
            <a:pPr lvl="1"/>
            <a:r>
              <a:rPr sz="1600"/>
              <a:t>Saves operational effort vs random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11 —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False Positives</a:t>
            </a:r>
          </a:p>
          <a:p>
            <a:pPr lvl="1"/>
            <a:r>
              <a:rPr sz="1600"/>
              <a:t>Legit high-throughput providers</a:t>
            </a:r>
          </a:p>
          <a:p>
            <a:pPr lvl="1"/>
            <a:r>
              <a:rPr sz="1600"/>
              <a:t>Resemble "high-revenue fraud"</a:t>
            </a:r>
          </a:p>
          <a:p>
            <a:pPr/>
          </a:p>
          <a:p>
            <a:pPr/>
            <a:r>
              <a:rPr sz="1800"/>
              <a:t>False Negatives</a:t>
            </a:r>
          </a:p>
          <a:p>
            <a:pPr lvl="1"/>
            <a:r>
              <a:rPr sz="1600"/>
              <a:t>Very low-volume clinics</a:t>
            </a:r>
          </a:p>
          <a:p>
            <a:pPr lvl="1"/>
            <a:r>
              <a:rPr sz="1600"/>
              <a:t>Mimic normal small providers</a:t>
            </a:r>
          </a:p>
          <a:p>
            <a:pPr/>
          </a:p>
          <a:p>
            <a:pPr/>
            <a:r>
              <a:rPr sz="1800"/>
              <a:t>Future Enhancements</a:t>
            </a:r>
          </a:p>
          <a:p>
            <a:pPr lvl="1"/>
            <a:r>
              <a:rPr sz="1600"/>
              <a:t>Provider–patient graph relationships</a:t>
            </a:r>
          </a:p>
          <a:p>
            <a:pPr lvl="1"/>
            <a:r>
              <a:rPr sz="1600"/>
              <a:t>Temporal fraud drift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Slide 12 — Key Drivers of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1800"/>
              <a:t>Top influential signals:</a:t>
            </a:r>
          </a:p>
          <a:p>
            <a:pPr lvl="1"/>
            <a:r>
              <a:rPr sz="1600"/>
              <a:t>Total claims submitted</a:t>
            </a:r>
          </a:p>
          <a:p>
            <a:pPr lvl="1"/>
            <a:r>
              <a:rPr sz="1600"/>
              <a:t>Total &amp; avg reimbursement</a:t>
            </a:r>
          </a:p>
          <a:p>
            <a:pPr lvl="1"/>
            <a:r>
              <a:rPr sz="1600"/>
              <a:t>Diagnosis &amp; procedure diversity</a:t>
            </a:r>
          </a:p>
          <a:p>
            <a:pPr lvl="1"/>
            <a:r>
              <a:rPr sz="1600"/>
              <a:t>Chronic illness ratios</a:t>
            </a:r>
          </a:p>
          <a:p>
            <a:pPr/>
          </a:p>
          <a:p>
            <a:pPr/>
            <a:r>
              <a:rPr sz="1800"/>
              <a:t>➡️ Features align with known real-world fraud behaviors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Slide 13 — 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0" rIns="457200" tIns="274320" bIns="274320">
            <a:normAutofit/>
          </a:bodyPr>
          <a:lstStyle/>
          <a:p>
            <a:pPr/>
            <a:r>
              <a:rPr sz="2000"/>
              <a:t>Deploy XGBoost for Medicare fraud triage</a:t>
            </a:r>
          </a:p>
          <a:p>
            <a:pPr/>
            <a:r>
              <a:rPr sz="2000"/>
              <a:t>Investigate top risk percentile providers</a:t>
            </a:r>
          </a:p>
          <a:p>
            <a:pPr/>
            <a:r>
              <a:rPr sz="2000"/>
              <a:t>Keep human analysts in loop</a:t>
            </a:r>
          </a:p>
          <a:p>
            <a:pPr/>
            <a:r>
              <a:rPr sz="2000"/>
              <a:t>Retrain every quarter → prevent drift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Slide 14 — Q&amp;A</a:t>
            </a:r>
          </a:p>
          <a:p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